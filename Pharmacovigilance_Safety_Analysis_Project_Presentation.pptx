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666" y="-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Pharmacovigilance Safety Analysis Project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39"/>
            <a:ext cx="8229600" cy="45719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80971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44444"/>
                </a:solidFill>
              </a:defRPr>
            </a:pPr>
            <a:r>
              <a:rPr dirty="0"/>
              <a:t>FAERS 2025 Adverse Event Analysis</a:t>
            </a:r>
          </a:p>
          <a:p>
            <a:pPr>
              <a:defRPr sz="1800">
                <a:solidFill>
                  <a:srgbClr val="444444"/>
                </a:solidFill>
              </a:defRPr>
            </a:pPr>
            <a:r>
              <a:rPr dirty="0"/>
              <a:t>MedDRA Coding, Signal Detection &amp; Aggregate Reporting</a:t>
            </a:r>
          </a:p>
          <a:p>
            <a:pPr>
              <a:defRPr sz="1800">
                <a:solidFill>
                  <a:srgbClr val="444444"/>
                </a:solidFill>
              </a:defRPr>
            </a:pPr>
            <a:r>
              <a:rPr b="1" dirty="0"/>
              <a:t>Prepared by: </a:t>
            </a:r>
            <a:r>
              <a:rPr b="1" dirty="0" err="1"/>
              <a:t>Jijau</a:t>
            </a:r>
            <a:r>
              <a:rPr b="1" dirty="0"/>
              <a:t> Mohan Khandale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646464"/>
                </a:solidFill>
              </a:defRPr>
            </a:pPr>
            <a: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Introduction to Pharmacovigilance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39"/>
            <a:ext cx="8229600" cy="45719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80551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44444"/>
                </a:solidFill>
              </a:defRPr>
            </a:pPr>
            <a:r>
              <a:t>Pharmacovigilance focuses on detection, assessment, and prevention of adverse drug reactions.</a:t>
            </a:r>
          </a:p>
          <a:p>
            <a:pPr>
              <a:defRPr sz="1800">
                <a:solidFill>
                  <a:srgbClr val="444444"/>
                </a:solidFill>
              </a:defRPr>
            </a:pPr>
            <a:r>
              <a:t>Drug safety monitoring helps improve patient safety and regulatory compliance.</a:t>
            </a:r>
          </a:p>
          <a:p>
            <a:pPr>
              <a:defRPr sz="1800">
                <a:solidFill>
                  <a:srgbClr val="444444"/>
                </a:solidFill>
              </a:defRPr>
            </a:pPr>
            <a:r>
              <a:t>Spontaneous reporting systems are widely used for post-marketing surveillance.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646464"/>
                </a:solidFill>
              </a:defRPr>
            </a:pPr>
            <a: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Project Objective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914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484065" cy="25853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+mj-lt"/>
              <a:buAutoNum type="arabicPeriod"/>
              <a:defRPr sz="1800">
                <a:solidFill>
                  <a:srgbClr val="444444"/>
                </a:solidFill>
              </a:defRPr>
            </a:pPr>
            <a:r>
              <a:rPr dirty="0"/>
              <a:t>Analyze FAERS adverse event dataset.</a:t>
            </a:r>
            <a:endParaRPr lang="en-IN" dirty="0"/>
          </a:p>
          <a:p>
            <a:pPr marL="342900" indent="-342900">
              <a:buFont typeface="+mj-lt"/>
              <a:buAutoNum type="arabicPeriod"/>
              <a:defRPr sz="1800">
                <a:solidFill>
                  <a:srgbClr val="444444"/>
                </a:solidFill>
              </a:defRPr>
            </a:pPr>
            <a:endParaRPr dirty="0"/>
          </a:p>
          <a:p>
            <a:pPr marL="342900" indent="-342900">
              <a:buFont typeface="+mj-lt"/>
              <a:buAutoNum type="arabicPeriod"/>
              <a:defRPr sz="1800">
                <a:solidFill>
                  <a:srgbClr val="444444"/>
                </a:solidFill>
              </a:defRPr>
            </a:pPr>
            <a:r>
              <a:rPr dirty="0"/>
              <a:t>Perform MedDRA PT and SOC coding.</a:t>
            </a:r>
            <a:endParaRPr lang="en-IN" dirty="0"/>
          </a:p>
          <a:p>
            <a:pPr marL="342900" indent="-342900">
              <a:buFont typeface="+mj-lt"/>
              <a:buAutoNum type="arabicPeriod"/>
              <a:defRPr sz="1800">
                <a:solidFill>
                  <a:srgbClr val="444444"/>
                </a:solidFill>
              </a:defRPr>
            </a:pPr>
            <a:endParaRPr dirty="0"/>
          </a:p>
          <a:p>
            <a:pPr marL="342900" indent="-342900">
              <a:buFont typeface="+mj-lt"/>
              <a:buAutoNum type="arabicPeriod"/>
              <a:defRPr sz="1800">
                <a:solidFill>
                  <a:srgbClr val="444444"/>
                </a:solidFill>
              </a:defRPr>
            </a:pPr>
            <a:r>
              <a:rPr dirty="0"/>
              <a:t>Conduct seriousness and causality assessment.</a:t>
            </a:r>
            <a:endParaRPr lang="en-IN" dirty="0"/>
          </a:p>
          <a:p>
            <a:pPr marL="342900" indent="-342900">
              <a:buFont typeface="+mj-lt"/>
              <a:buAutoNum type="arabicPeriod"/>
              <a:defRPr sz="1800">
                <a:solidFill>
                  <a:srgbClr val="444444"/>
                </a:solidFill>
              </a:defRPr>
            </a:pPr>
            <a:endParaRPr dirty="0"/>
          </a:p>
          <a:p>
            <a:pPr marL="342900" indent="-342900">
              <a:buFont typeface="+mj-lt"/>
              <a:buAutoNum type="arabicPeriod"/>
              <a:defRPr sz="1800">
                <a:solidFill>
                  <a:srgbClr val="444444"/>
                </a:solidFill>
              </a:defRPr>
            </a:pPr>
            <a:r>
              <a:rPr dirty="0"/>
              <a:t>Identify potential safety signals.</a:t>
            </a:r>
            <a:endParaRPr lang="en-IN" dirty="0"/>
          </a:p>
          <a:p>
            <a:pPr marL="342900" indent="-342900">
              <a:buFont typeface="+mj-lt"/>
              <a:buAutoNum type="arabicPeriod"/>
              <a:defRPr sz="1800">
                <a:solidFill>
                  <a:srgbClr val="444444"/>
                </a:solidFill>
              </a:defRPr>
            </a:pPr>
            <a:endParaRPr dirty="0"/>
          </a:p>
          <a:p>
            <a:pPr marL="342900" indent="-342900">
              <a:buFont typeface="+mj-lt"/>
              <a:buAutoNum type="arabicPeriod"/>
              <a:defRPr sz="1800">
                <a:solidFill>
                  <a:srgbClr val="444444"/>
                </a:solidFill>
              </a:defRPr>
            </a:pPr>
            <a:r>
              <a:rPr dirty="0"/>
              <a:t>Develop aggregate safety dashboards and narratives.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646464"/>
                </a:solidFill>
              </a:defRPr>
            </a:pPr>
            <a: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Dataset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39"/>
            <a:ext cx="8229600" cy="45719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277120" cy="17543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444444"/>
                </a:solidFill>
              </a:defRPr>
            </a:pPr>
            <a:r>
              <a:rPr dirty="0"/>
              <a:t>Dataset Source: FAERS 2025 safety data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444444"/>
                </a:solidFill>
              </a:defRPr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444444"/>
                </a:solidFill>
              </a:defRPr>
            </a:pPr>
            <a:r>
              <a:rPr dirty="0"/>
              <a:t>Included case IDs, suspect drugs, adverse reactions, seriousness criteria, </a:t>
            </a:r>
            <a:endParaRPr lang="en-IN" dirty="0"/>
          </a:p>
          <a:p>
            <a:pPr>
              <a:defRPr sz="1800">
                <a:solidFill>
                  <a:srgbClr val="444444"/>
                </a:solidFill>
              </a:defRPr>
            </a:pPr>
            <a:r>
              <a:rPr lang="en-IN" dirty="0"/>
              <a:t>     </a:t>
            </a:r>
            <a:r>
              <a:rPr dirty="0"/>
              <a:t>and patient demographics.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444444"/>
                </a:solidFill>
              </a:defRPr>
            </a:pPr>
            <a:endParaRPr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444444"/>
                </a:solidFill>
              </a:defRPr>
            </a:pPr>
            <a:r>
              <a:rPr dirty="0"/>
              <a:t>Focused on biologics, oncology drugs, antivirals, and corticosteroids.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646464"/>
                </a:solidFill>
              </a:defRPr>
            </a:pPr>
            <a: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Pharmacovigilance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82979"/>
            <a:ext cx="8229600" cy="114301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585230" cy="2031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+mj-lt"/>
              <a:buAutoNum type="arabicPeriod"/>
              <a:defRPr sz="1800">
                <a:solidFill>
                  <a:srgbClr val="444444"/>
                </a:solidFill>
              </a:defRPr>
            </a:pPr>
            <a:r>
              <a:rPr dirty="0"/>
              <a:t>Data Cleaning and Validation</a:t>
            </a:r>
          </a:p>
          <a:p>
            <a:pPr marL="342900" indent="-342900">
              <a:buFont typeface="+mj-lt"/>
              <a:buAutoNum type="arabicPeriod"/>
              <a:defRPr sz="1800">
                <a:solidFill>
                  <a:srgbClr val="444444"/>
                </a:solidFill>
              </a:defRPr>
            </a:pPr>
            <a:r>
              <a:rPr dirty="0"/>
              <a:t>MedDRA Coding (PT &amp; SOC)</a:t>
            </a:r>
          </a:p>
          <a:p>
            <a:pPr marL="342900" indent="-342900">
              <a:buFont typeface="+mj-lt"/>
              <a:buAutoNum type="arabicPeriod"/>
              <a:defRPr sz="1800">
                <a:solidFill>
                  <a:srgbClr val="444444"/>
                </a:solidFill>
              </a:defRPr>
            </a:pPr>
            <a:r>
              <a:rPr dirty="0"/>
              <a:t>Seriousness Assessment</a:t>
            </a:r>
          </a:p>
          <a:p>
            <a:pPr marL="342900" indent="-342900">
              <a:buFont typeface="+mj-lt"/>
              <a:buAutoNum type="arabicPeriod"/>
              <a:defRPr sz="1800">
                <a:solidFill>
                  <a:srgbClr val="444444"/>
                </a:solidFill>
              </a:defRPr>
            </a:pPr>
            <a:r>
              <a:rPr dirty="0"/>
              <a:t>WHO-UMC Causality Assessment</a:t>
            </a:r>
          </a:p>
          <a:p>
            <a:pPr marL="342900" indent="-342900">
              <a:buFont typeface="+mj-lt"/>
              <a:buAutoNum type="arabicPeriod"/>
              <a:defRPr sz="1800">
                <a:solidFill>
                  <a:srgbClr val="444444"/>
                </a:solidFill>
              </a:defRPr>
            </a:pPr>
            <a:r>
              <a:rPr dirty="0"/>
              <a:t>Signal Detection</a:t>
            </a:r>
          </a:p>
          <a:p>
            <a:pPr marL="342900" indent="-342900">
              <a:buFont typeface="+mj-lt"/>
              <a:buAutoNum type="arabicPeriod"/>
              <a:defRPr sz="1800">
                <a:solidFill>
                  <a:srgbClr val="444444"/>
                </a:solidFill>
              </a:defRPr>
            </a:pPr>
            <a:r>
              <a:rPr dirty="0"/>
              <a:t>Narrative Writing</a:t>
            </a:r>
          </a:p>
          <a:p>
            <a:pPr marL="342900" indent="-342900">
              <a:buFont typeface="+mj-lt"/>
              <a:buAutoNum type="arabicPeriod"/>
              <a:defRPr sz="1800">
                <a:solidFill>
                  <a:srgbClr val="444444"/>
                </a:solidFill>
              </a:defRPr>
            </a:pPr>
            <a:r>
              <a:rPr dirty="0"/>
              <a:t>Aggregate Reporting &amp; Dashboard Creation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646464"/>
                </a:solidFill>
              </a:defRPr>
            </a:pPr>
            <a: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MedDRA Coding Process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914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44444"/>
                </a:solidFill>
              </a:defRPr>
            </a:pPr>
            <a:r>
              <a:t>Mapped primary reactions to MedDRA Preferred Terms (PT).</a:t>
            </a:r>
          </a:p>
          <a:p>
            <a:pPr>
              <a:defRPr sz="1800">
                <a:solidFill>
                  <a:srgbClr val="444444"/>
                </a:solidFill>
              </a:defRPr>
            </a:pPr>
            <a:r>
              <a:t>Assigned System Organ Classes (SOC) for standardization.</a:t>
            </a:r>
          </a:p>
          <a:p>
            <a:pPr>
              <a:defRPr sz="1800">
                <a:solidFill>
                  <a:srgbClr val="444444"/>
                </a:solidFill>
              </a:defRPr>
            </a:pPr>
            <a:r>
              <a:t>Examples:</a:t>
            </a:r>
          </a:p>
          <a:p>
            <a:pPr>
              <a:defRPr sz="1800">
                <a:solidFill>
                  <a:srgbClr val="444444"/>
                </a:solidFill>
              </a:defRPr>
            </a:pPr>
            <a:r>
              <a:t>• Pneumonia → Infections and infestations</a:t>
            </a:r>
          </a:p>
          <a:p>
            <a:pPr>
              <a:defRPr sz="1800">
                <a:solidFill>
                  <a:srgbClr val="444444"/>
                </a:solidFill>
              </a:defRPr>
            </a:pPr>
            <a:r>
              <a:t>• Neutropenia → Blood and lymphatic system disorders</a:t>
            </a:r>
          </a:p>
          <a:p>
            <a:pPr>
              <a:defRPr sz="1800">
                <a:solidFill>
                  <a:srgbClr val="444444"/>
                </a:solidFill>
              </a:defRPr>
            </a:pPr>
            <a:r>
              <a:t>• Cerebrovascular accident → Nervous system disorders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646464"/>
                </a:solidFill>
              </a:defRPr>
            </a:pPr>
            <a:r>
              <a:t>Slide 6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F2F5A7F-44FA-ABAD-A56E-1986D078CC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1351551"/>
              </p:ext>
            </p:extLst>
          </p:nvPr>
        </p:nvGraphicFramePr>
        <p:xfrm>
          <a:off x="719328" y="3108960"/>
          <a:ext cx="7680960" cy="19629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8034">
                  <a:extLst>
                    <a:ext uri="{9D8B030D-6E8A-4147-A177-3AD203B41FA5}">
                      <a16:colId xmlns:a16="http://schemas.microsoft.com/office/drawing/2014/main" val="2131672279"/>
                    </a:ext>
                  </a:extLst>
                </a:gridCol>
                <a:gridCol w="1964176">
                  <a:extLst>
                    <a:ext uri="{9D8B030D-6E8A-4147-A177-3AD203B41FA5}">
                      <a16:colId xmlns:a16="http://schemas.microsoft.com/office/drawing/2014/main" val="3376819264"/>
                    </a:ext>
                  </a:extLst>
                </a:gridCol>
                <a:gridCol w="1964176">
                  <a:extLst>
                    <a:ext uri="{9D8B030D-6E8A-4147-A177-3AD203B41FA5}">
                      <a16:colId xmlns:a16="http://schemas.microsoft.com/office/drawing/2014/main" val="3772205136"/>
                    </a:ext>
                  </a:extLst>
                </a:gridCol>
                <a:gridCol w="2894574">
                  <a:extLst>
                    <a:ext uri="{9D8B030D-6E8A-4147-A177-3AD203B41FA5}">
                      <a16:colId xmlns:a16="http://schemas.microsoft.com/office/drawing/2014/main" val="754304501"/>
                    </a:ext>
                  </a:extLst>
                </a:gridCol>
              </a:tblGrid>
              <a:tr h="2592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1" u="none" strike="noStrike">
                          <a:effectLst/>
                        </a:rPr>
                        <a:t>report_id</a:t>
                      </a:r>
                      <a:endParaRPr lang="en-IN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6" marR="6646" marT="664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1" u="none" strike="noStrike">
                          <a:effectLst/>
                        </a:rPr>
                        <a:t>primary_reaction</a:t>
                      </a:r>
                      <a:endParaRPr lang="en-IN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6" marR="6646" marT="664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1" u="none" strike="noStrike">
                          <a:effectLst/>
                        </a:rPr>
                        <a:t>meddra_pt</a:t>
                      </a:r>
                      <a:endParaRPr lang="en-IN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6" marR="6646" marT="664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1" u="none" strike="noStrike" dirty="0">
                          <a:effectLst/>
                        </a:rPr>
                        <a:t>meddra_soc</a:t>
                      </a:r>
                      <a:endParaRPr lang="en-IN" sz="10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6" marR="6646" marT="6646" marB="0" anchor="b"/>
                </a:tc>
                <a:extLst>
                  <a:ext uri="{0D108BD9-81ED-4DB2-BD59-A6C34878D82A}">
                    <a16:rowId xmlns:a16="http://schemas.microsoft.com/office/drawing/2014/main" val="2958260300"/>
                  </a:ext>
                </a:extLst>
              </a:tr>
              <a:tr h="25927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10136674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6" marR="6646" marT="664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Pneumonia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6" marR="6646" marT="664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Pneumonia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6" marR="6646" marT="664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Infections and infestations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6" marR="6646" marT="6646" marB="0" anchor="b"/>
                </a:tc>
                <a:extLst>
                  <a:ext uri="{0D108BD9-81ED-4DB2-BD59-A6C34878D82A}">
                    <a16:rowId xmlns:a16="http://schemas.microsoft.com/office/drawing/2014/main" val="577988823"/>
                  </a:ext>
                </a:extLst>
              </a:tr>
              <a:tr h="25927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10233235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6" marR="6646" marT="664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Cerebrovascular accident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6" marR="6646" marT="664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Cerebrovascular accident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6" marR="6646" marT="664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Nervous system disorders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6" marR="6646" marT="6646" marB="0" anchor="b"/>
                </a:tc>
                <a:extLst>
                  <a:ext uri="{0D108BD9-81ED-4DB2-BD59-A6C34878D82A}">
                    <a16:rowId xmlns:a16="http://schemas.microsoft.com/office/drawing/2014/main" val="2107314973"/>
                  </a:ext>
                </a:extLst>
              </a:tr>
              <a:tr h="25927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10285496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6" marR="6646" marT="664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Alopecia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6" marR="6646" marT="664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Alopecia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6" marR="6646" marT="664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Skin and subcutaneous tissue disorders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6" marR="6646" marT="6646" marB="0" anchor="b"/>
                </a:tc>
                <a:extLst>
                  <a:ext uri="{0D108BD9-81ED-4DB2-BD59-A6C34878D82A}">
                    <a16:rowId xmlns:a16="http://schemas.microsoft.com/office/drawing/2014/main" val="4207404279"/>
                  </a:ext>
                </a:extLst>
              </a:tr>
              <a:tr h="92582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10356309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6" marR="6646" marT="664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 dirty="0">
                          <a:effectLst/>
                        </a:rPr>
                        <a:t>Pneumonia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6" marR="6646" marT="664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Pneumonia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6" marR="6646" marT="664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u="none" strike="noStrike" dirty="0">
                          <a:effectLst/>
                        </a:rPr>
                        <a:t>Infections and infestations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46" marR="6646" marT="6646" marB="0" anchor="b"/>
                </a:tc>
                <a:extLst>
                  <a:ext uri="{0D108BD9-81ED-4DB2-BD59-A6C34878D82A}">
                    <a16:rowId xmlns:a16="http://schemas.microsoft.com/office/drawing/2014/main" val="280174229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Causality Assessment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39"/>
            <a:ext cx="8229600" cy="45719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95528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44444"/>
                </a:solidFill>
              </a:defRPr>
            </a:pPr>
            <a:r>
              <a:rPr dirty="0"/>
              <a:t>Used simplified WHO-UMC methodology.</a:t>
            </a:r>
            <a:endParaRPr lang="en-IN" dirty="0"/>
          </a:p>
          <a:p>
            <a:pPr>
              <a:defRPr sz="1800">
                <a:solidFill>
                  <a:srgbClr val="444444"/>
                </a:solidFill>
              </a:defRPr>
            </a:pPr>
            <a:endParaRPr dirty="0"/>
          </a:p>
          <a:p>
            <a:pPr marL="342900" indent="-342900">
              <a:buFont typeface="+mj-lt"/>
              <a:buAutoNum type="arabicPeriod"/>
              <a:defRPr sz="1800">
                <a:solidFill>
                  <a:srgbClr val="444444"/>
                </a:solidFill>
              </a:defRPr>
            </a:pPr>
            <a:r>
              <a:rPr dirty="0"/>
              <a:t>Probable: strong temporal and clinical association.</a:t>
            </a:r>
          </a:p>
          <a:p>
            <a:pPr marL="342900" indent="-342900">
              <a:buFont typeface="+mj-lt"/>
              <a:buAutoNum type="arabicPeriod"/>
              <a:defRPr sz="1800">
                <a:solidFill>
                  <a:srgbClr val="444444"/>
                </a:solidFill>
              </a:defRPr>
            </a:pPr>
            <a:r>
              <a:rPr dirty="0"/>
              <a:t>Possible: reasonable relationship with suspected drug.</a:t>
            </a:r>
          </a:p>
          <a:p>
            <a:pPr marL="342900" indent="-342900">
              <a:buFont typeface="+mj-lt"/>
              <a:buAutoNum type="arabicPeriod"/>
              <a:defRPr sz="1800">
                <a:solidFill>
                  <a:srgbClr val="444444"/>
                </a:solidFill>
              </a:defRPr>
            </a:pPr>
            <a:r>
              <a:rPr dirty="0"/>
              <a:t>Unlikely: insufficient or weak evidence.</a:t>
            </a:r>
            <a:endParaRPr lang="en-IN" dirty="0"/>
          </a:p>
          <a:p>
            <a:pPr>
              <a:defRPr sz="1800">
                <a:solidFill>
                  <a:srgbClr val="444444"/>
                </a:solidFill>
              </a:defRPr>
            </a:pPr>
            <a:endParaRPr dirty="0"/>
          </a:p>
          <a:p>
            <a:pPr>
              <a:defRPr sz="1800">
                <a:solidFill>
                  <a:srgbClr val="444444"/>
                </a:solidFill>
              </a:defRPr>
            </a:pPr>
            <a:r>
              <a:rPr dirty="0"/>
              <a:t>Assessment supported signal prioritization.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646464"/>
                </a:solidFill>
              </a:defRPr>
            </a:pPr>
            <a: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Signal Detection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914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8841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444444"/>
                </a:solidFill>
              </a:defRPr>
            </a:pPr>
            <a:r>
              <a:t>Repeated infection-related adverse events identified.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444444"/>
                </a:solidFill>
              </a:defRPr>
            </a:pPr>
            <a:r>
              <a:t>Observed immune-mediated and hematologic safety signals.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444444"/>
                </a:solidFill>
              </a:defRPr>
            </a:pPr>
            <a:r>
              <a:t>Biologic therapies showed serious infection-related trends.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444444"/>
                </a:solidFill>
              </a:defRPr>
            </a:pPr>
            <a:r>
              <a:t>Potential signals require continuous pharmacovigilance monitoring.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646464"/>
                </a:solidFill>
              </a:defRPr>
            </a:pPr>
            <a:r>
              <a:t>Slide 8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235505A-EC88-1CA9-38D1-605367A32C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734114"/>
              </p:ext>
            </p:extLst>
          </p:nvPr>
        </p:nvGraphicFramePr>
        <p:xfrm>
          <a:off x="731520" y="2663369"/>
          <a:ext cx="7955279" cy="209151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66192">
                  <a:extLst>
                    <a:ext uri="{9D8B030D-6E8A-4147-A177-3AD203B41FA5}">
                      <a16:colId xmlns:a16="http://schemas.microsoft.com/office/drawing/2014/main" val="2419110722"/>
                    </a:ext>
                  </a:extLst>
                </a:gridCol>
                <a:gridCol w="2266192">
                  <a:extLst>
                    <a:ext uri="{9D8B030D-6E8A-4147-A177-3AD203B41FA5}">
                      <a16:colId xmlns:a16="http://schemas.microsoft.com/office/drawing/2014/main" val="2571191501"/>
                    </a:ext>
                  </a:extLst>
                </a:gridCol>
                <a:gridCol w="3422895">
                  <a:extLst>
                    <a:ext uri="{9D8B030D-6E8A-4147-A177-3AD203B41FA5}">
                      <a16:colId xmlns:a16="http://schemas.microsoft.com/office/drawing/2014/main" val="2549367312"/>
                    </a:ext>
                  </a:extLst>
                </a:gridCol>
              </a:tblGrid>
              <a:tr h="4290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Primary Reaction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Suggested Causality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Signal Type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422932598"/>
                  </a:ext>
                </a:extLst>
              </a:tr>
              <a:tr h="4290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Pneumonia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Probable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Infection signal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251670863"/>
                  </a:ext>
                </a:extLst>
              </a:tr>
              <a:tr h="8044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Immune-mediated adverse reaction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Probable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Immune signal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54073017"/>
                  </a:ext>
                </a:extLst>
              </a:tr>
              <a:tr h="4290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Drug hypersensitivity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Probable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Hypersensitivity signal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8738378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Narrative Writing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39"/>
            <a:ext cx="8229600" cy="45719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7165551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444444"/>
                </a:solidFill>
              </a:defRPr>
            </a:pPr>
            <a:r>
              <a:rPr dirty="0"/>
              <a:t>Prepared professional ICSR-style case narratives.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444444"/>
                </a:solidFill>
              </a:defRPr>
            </a:pPr>
            <a:r>
              <a:rPr dirty="0"/>
              <a:t>Included serious infection, neurologic, renal, and hematologic cases.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444444"/>
                </a:solidFill>
              </a:defRPr>
            </a:pPr>
            <a:r>
              <a:rPr dirty="0"/>
              <a:t>Narratives documented patient history, drug exposure, adverse events, </a:t>
            </a:r>
            <a:endParaRPr lang="en-IN" dirty="0"/>
          </a:p>
          <a:p>
            <a:pPr>
              <a:defRPr sz="1800">
                <a:solidFill>
                  <a:srgbClr val="444444"/>
                </a:solidFill>
              </a:defRPr>
            </a:pPr>
            <a:r>
              <a:rPr lang="en-IN" dirty="0"/>
              <a:t>     </a:t>
            </a:r>
            <a:r>
              <a:rPr dirty="0"/>
              <a:t>outcomes, and assessment.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646464"/>
                </a:solidFill>
              </a:defRPr>
            </a:pPr>
            <a:r>
              <a:t>Slide 9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70CBD84-AD42-6B04-3674-88A5F81433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8312141"/>
              </p:ext>
            </p:extLst>
          </p:nvPr>
        </p:nvGraphicFramePr>
        <p:xfrm>
          <a:off x="819808" y="2663370"/>
          <a:ext cx="7866992" cy="2629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36521">
                  <a:extLst>
                    <a:ext uri="{9D8B030D-6E8A-4147-A177-3AD203B41FA5}">
                      <a16:colId xmlns:a16="http://schemas.microsoft.com/office/drawing/2014/main" val="4248667270"/>
                    </a:ext>
                  </a:extLst>
                </a:gridCol>
                <a:gridCol w="6230471">
                  <a:extLst>
                    <a:ext uri="{9D8B030D-6E8A-4147-A177-3AD203B41FA5}">
                      <a16:colId xmlns:a16="http://schemas.microsoft.com/office/drawing/2014/main" val="1474345308"/>
                    </a:ext>
                  </a:extLst>
                </a:gridCol>
              </a:tblGrid>
              <a:tr h="2447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case_id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7" marR="7337" marT="733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narrative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7" marR="7337" marT="7337" marB="0" anchor="ctr"/>
                </a:tc>
                <a:extLst>
                  <a:ext uri="{0D108BD9-81ED-4DB2-BD59-A6C34878D82A}">
                    <a16:rowId xmlns:a16="http://schemas.microsoft.com/office/drawing/2014/main" val="3456362051"/>
                  </a:ext>
                </a:extLst>
              </a:tr>
              <a:tr h="23786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10136674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7" marR="7337" marT="733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 dirty="0">
                          <a:effectLst/>
                        </a:rPr>
                        <a:t>A 23-year-old female patient with a medical history of psoriasis received </a:t>
                      </a:r>
                      <a:r>
                        <a:rPr lang="en-US" sz="1500" b="1" u="none" strike="noStrike" dirty="0">
                          <a:effectLst/>
                        </a:rPr>
                        <a:t>Ustekinumab</a:t>
                      </a:r>
                      <a:r>
                        <a:rPr lang="en-US" sz="1500" u="none" strike="noStrike" dirty="0">
                          <a:effectLst/>
                        </a:rPr>
                        <a:t> (STELARA) therapy. During the course of treatment, the patient </a:t>
                      </a:r>
                      <a:r>
                        <a:rPr lang="en-US" sz="1500" b="1" u="none" strike="noStrike" dirty="0">
                          <a:effectLst/>
                        </a:rPr>
                        <a:t>developed pneumonia </a:t>
                      </a:r>
                      <a:r>
                        <a:rPr lang="en-US" sz="1500" u="none" strike="noStrike" dirty="0">
                          <a:effectLst/>
                        </a:rPr>
                        <a:t>accompanied by staphylococcal infection and sepsis. The adverse events were considered </a:t>
                      </a:r>
                      <a:r>
                        <a:rPr lang="en-US" sz="1500" b="1" u="none" strike="noStrike" dirty="0">
                          <a:effectLst/>
                        </a:rPr>
                        <a:t>serious due to hospitalization requirement</a:t>
                      </a:r>
                      <a:r>
                        <a:rPr lang="en-US" sz="1500" u="none" strike="noStrike" dirty="0">
                          <a:effectLst/>
                        </a:rPr>
                        <a:t>. Appropriate medical management was initiated, and the patient subsequently </a:t>
                      </a:r>
                      <a:r>
                        <a:rPr lang="en-US" sz="1500" b="1" u="none" strike="noStrike" dirty="0">
                          <a:effectLst/>
                        </a:rPr>
                        <a:t>recovered</a:t>
                      </a:r>
                      <a:r>
                        <a:rPr lang="en-US" sz="1500" u="none" strike="noStrike" dirty="0">
                          <a:effectLst/>
                        </a:rPr>
                        <a:t>. Considering the </a:t>
                      </a:r>
                      <a:r>
                        <a:rPr lang="en-US" sz="1500" b="1" u="none" strike="noStrike" dirty="0">
                          <a:effectLst/>
                        </a:rPr>
                        <a:t>temporal association between drug administration and onset of the adverse events</a:t>
                      </a:r>
                      <a:r>
                        <a:rPr lang="en-US" sz="1500" u="none" strike="noStrike" dirty="0">
                          <a:effectLst/>
                        </a:rPr>
                        <a:t>, along with the known immunosuppressive profile of Ustekinumab, the </a:t>
                      </a:r>
                      <a:r>
                        <a:rPr lang="en-US" sz="1500" b="1" u="none" strike="noStrike" dirty="0">
                          <a:effectLst/>
                        </a:rPr>
                        <a:t>causality assessment was determined to be probable</a:t>
                      </a:r>
                      <a:r>
                        <a:rPr lang="en-US" sz="1500" u="none" strike="noStrike" dirty="0">
                          <a:effectLst/>
                        </a:rPr>
                        <a:t>. Continuous monitoring for serious infection-related adverse events is recommended during biologic therapy.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37" marR="7337" marT="7337" marB="0" anchor="b"/>
                </a:tc>
                <a:extLst>
                  <a:ext uri="{0D108BD9-81ED-4DB2-BD59-A6C34878D82A}">
                    <a16:rowId xmlns:a16="http://schemas.microsoft.com/office/drawing/2014/main" val="145470374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Aggregate Reporting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39"/>
            <a:ext cx="8229600" cy="45719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646464"/>
                </a:solidFill>
              </a:defRPr>
            </a:pPr>
            <a:r>
              <a:t>Slide 10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53F2C4-030E-0072-C658-27119EBE8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1" y="1290144"/>
            <a:ext cx="8229600" cy="488205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Key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39"/>
            <a:ext cx="8229600" cy="45719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459863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444444"/>
                </a:solidFill>
              </a:defRPr>
            </a:pPr>
            <a:r>
              <a:t>Pneumonia and infection-related reactions were frequently reported.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444444"/>
                </a:solidFill>
              </a:defRPr>
            </a:pPr>
            <a:r>
              <a:t>Hypersensitivity and hematologic adverse events were identified.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444444"/>
                </a:solidFill>
              </a:defRPr>
            </a:pPr>
            <a:r>
              <a:t>Serious adverse events were commonly associated with biologic therapies.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444444"/>
                </a:solidFill>
              </a:defRPr>
            </a:pPr>
            <a:r>
              <a:t>Signal detection supported ongoing safety monitoring recommendations.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646464"/>
                </a:solidFill>
              </a:defRPr>
            </a:pPr>
            <a:r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39"/>
            <a:ext cx="8229600" cy="45719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9552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444444"/>
                </a:solidFill>
              </a:defRPr>
            </a:pPr>
            <a:r>
              <a:rPr dirty="0"/>
              <a:t>Successfully completed a pharmacovigilance workflow simulation project.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444444"/>
                </a:solidFill>
              </a:defRPr>
            </a:pPr>
            <a:r>
              <a:rPr dirty="0"/>
              <a:t>Applied MedDRA coding, signal detection, causality assessment, and aggregate reporting concepts.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444444"/>
                </a:solidFill>
              </a:defRPr>
            </a:pPr>
            <a:r>
              <a:rPr dirty="0"/>
              <a:t>Developed practical understanding of drug safety data analysis and PV workflows.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646464"/>
                </a:solidFill>
              </a:defRPr>
            </a:pPr>
            <a:r>
              <a:t>Slide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575</Words>
  <Application>Microsoft Office PowerPoint</Application>
  <PresentationFormat>On-screen Show (4:3)</PresentationFormat>
  <Paragraphs>116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Sagar Khandale</cp:lastModifiedBy>
  <cp:revision>2</cp:revision>
  <dcterms:created xsi:type="dcterms:W3CDTF">2013-01-27T09:14:16Z</dcterms:created>
  <dcterms:modified xsi:type="dcterms:W3CDTF">2026-05-12T14:58:38Z</dcterms:modified>
  <cp:category/>
</cp:coreProperties>
</file>